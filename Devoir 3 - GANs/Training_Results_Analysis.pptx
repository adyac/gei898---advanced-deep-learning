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76D2"/>
                </a:solidFill>
              </a:defRPr>
            </a:pPr>
            <a:r>
              <a:t>Analyse des Résultats d'Entraînement - 500 Epochs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62828"/>
                </a:solidFill>
              </a:defRPr>
            </a:pPr>
            <a:r>
              <a:t>1. GENERATOR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900"/>
            </a:pPr>
            <a:r>
              <a:t>✓ TRAIN Loss:</a:t>
            </a:r>
          </a:p>
          <a:p>
            <a:pPr>
              <a:spcBef>
                <a:spcPts val="100"/>
              </a:spcBef>
              <a:defRPr sz="900"/>
            </a:pPr>
            <a:r>
              <a:t>  • 2.8 → 4.2 (montée)</a:t>
            </a:r>
          </a:p>
          <a:p>
            <a:pPr>
              <a:spcBef>
                <a:spcPts val="100"/>
              </a:spcBef>
              <a:defRPr sz="900"/>
            </a:pPr>
            <a:r>
              <a:t>  • Stabilise à 4.0-4.25</a:t>
            </a:r>
          </a:p>
          <a:p>
            <a:pPr>
              <a:spcBef>
                <a:spcPts val="100"/>
              </a:spcBef>
              <a:defRPr sz="900"/>
            </a:pPr>
            <a:r>
              <a:t>  • Comportement NORMAL</a:t>
            </a:r>
          </a:p>
          <a:p>
            <a:pPr>
              <a:spcBef>
                <a:spcPts val="100"/>
              </a:spcBef>
              <a:defRPr sz="900"/>
            </a:pPr>
            <a:r>
              <a:t>    pour GAN</a:t>
            </a:r>
          </a:p>
          <a:p>
            <a:pPr>
              <a:spcBef>
                <a:spcPts val="100"/>
              </a:spcBef>
              <a:defRPr sz="900"/>
            </a:pPr>
          </a:p>
          <a:p>
            <a:pPr>
              <a:spcBef>
                <a:spcPts val="100"/>
              </a:spcBef>
              <a:defRPr sz="900"/>
            </a:pPr>
            <a:r>
              <a:t>✓ EVAL Loss:</a:t>
            </a:r>
          </a:p>
          <a:p>
            <a:pPr>
              <a:spcBef>
                <a:spcPts val="100"/>
              </a:spcBef>
              <a:defRPr sz="900"/>
            </a:pPr>
            <a:r>
              <a:t>  • Très stable ~2.3-2.4</a:t>
            </a:r>
          </a:p>
          <a:p>
            <a:pPr>
              <a:spcBef>
                <a:spcPts val="100"/>
              </a:spcBef>
              <a:defRPr sz="900"/>
            </a:pPr>
            <a:r>
              <a:t>  • Suit train fidèlement</a:t>
            </a:r>
          </a:p>
          <a:p>
            <a:pPr>
              <a:spcBef>
                <a:spcPts val="100"/>
              </a:spcBef>
              <a:defRPr sz="900"/>
            </a:pPr>
            <a:r>
              <a:t>  </a:t>
            </a:r>
          </a:p>
          <a:p>
            <a:pPr>
              <a:spcBef>
                <a:spcPts val="100"/>
              </a:spcBef>
              <a:defRPr sz="900"/>
            </a:pPr>
            <a:r>
              <a:t>⚠ INTERPRETATION:</a:t>
            </a:r>
          </a:p>
          <a:p>
            <a:pPr>
              <a:spcBef>
                <a:spcPts val="100"/>
              </a:spcBef>
              <a:defRPr sz="900"/>
            </a:pPr>
            <a:r>
              <a:t>  • Gap train/eval accepte</a:t>
            </a:r>
          </a:p>
          <a:p>
            <a:pPr>
              <a:spcBef>
                <a:spcPts val="100"/>
              </a:spcBef>
              <a:defRPr sz="900"/>
            </a:pPr>
            <a:r>
              <a:t>  • G apprend bien</a:t>
            </a:r>
          </a:p>
          <a:p>
            <a:pPr>
              <a:spcBef>
                <a:spcPts val="100"/>
              </a:spcBef>
              <a:defRPr sz="900"/>
            </a:pPr>
            <a:r>
              <a:t>  • Pas d'overfitting majeur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868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8E3C"/>
                </a:solidFill>
              </a:defRPr>
            </a:pPr>
            <a:r>
              <a:t>2. L1 RECONSTRUCTION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900"/>
            </a:pPr>
            <a:r>
              <a:t>✓ TRAIN Loss:</a:t>
            </a:r>
          </a:p>
          <a:p>
            <a:pPr>
              <a:spcBef>
                <a:spcPts val="100"/>
              </a:spcBef>
              <a:defRPr sz="900"/>
            </a:pPr>
            <a:r>
              <a:t>  • 0.70 → 0.67-0.68</a:t>
            </a:r>
          </a:p>
          <a:p>
            <a:pPr>
              <a:spcBef>
                <a:spcPts val="100"/>
              </a:spcBef>
              <a:defRPr sz="900"/>
            </a:pPr>
            <a:r>
              <a:t>  • Descente lente stable</a:t>
            </a:r>
          </a:p>
          <a:p>
            <a:pPr>
              <a:spcBef>
                <a:spcPts val="100"/>
              </a:spcBef>
              <a:defRPr sz="900"/>
            </a:pPr>
            <a:r>
              <a:t>  • Reconstruction OK</a:t>
            </a:r>
          </a:p>
          <a:p>
            <a:pPr>
              <a:spcBef>
                <a:spcPts val="100"/>
              </a:spcBef>
              <a:defRPr sz="900"/>
            </a:pPr>
          </a:p>
          <a:p>
            <a:pPr>
              <a:spcBef>
                <a:spcPts val="100"/>
              </a:spcBef>
              <a:defRPr sz="900"/>
            </a:pPr>
            <a:r>
              <a:t>✓ EVAL Loss:</a:t>
            </a:r>
          </a:p>
          <a:p>
            <a:pPr>
              <a:spcBef>
                <a:spcPts val="100"/>
              </a:spcBef>
              <a:defRPr sz="900"/>
            </a:pPr>
            <a:r>
              <a:t>  • Stable ~0.67-0.69</a:t>
            </a:r>
          </a:p>
          <a:p>
            <a:pPr>
              <a:spcBef>
                <a:spcPts val="100"/>
              </a:spcBef>
              <a:defRPr sz="900"/>
            </a:pPr>
            <a:r>
              <a:t>  • Suit train bien</a:t>
            </a:r>
          </a:p>
          <a:p>
            <a:pPr>
              <a:spcBef>
                <a:spcPts val="100"/>
              </a:spcBef>
              <a:defRPr sz="900"/>
            </a:pPr>
            <a:r>
              <a:t>  </a:t>
            </a:r>
          </a:p>
          <a:p>
            <a:pPr>
              <a:spcBef>
                <a:spcPts val="100"/>
              </a:spcBef>
              <a:defRPr sz="900"/>
            </a:pPr>
            <a:r>
              <a:t>⚠ ANOMALIE (Epoch 400):</a:t>
            </a:r>
          </a:p>
          <a:p>
            <a:pPr>
              <a:spcBef>
                <a:spcPts val="100"/>
              </a:spcBef>
              <a:defRPr sz="900"/>
            </a:pPr>
            <a:r>
              <a:t>  • Spike eval ~1.3-1.4</a:t>
            </a:r>
          </a:p>
          <a:p>
            <a:pPr>
              <a:spcBef>
                <a:spcPts val="100"/>
              </a:spcBef>
              <a:defRPr sz="900"/>
            </a:pPr>
            <a:r>
              <a:t>  • Puis revient normal</a:t>
            </a:r>
          </a:p>
          <a:p>
            <a:pPr>
              <a:spcBef>
                <a:spcPts val="100"/>
              </a:spcBef>
              <a:defRPr sz="900"/>
            </a:pPr>
            <a:r>
              <a:t>  • Possible batch difficile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8686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7F17"/>
                </a:solidFill>
              </a:defRPr>
            </a:pPr>
            <a:r>
              <a:t>3. DISCRIMINATOR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900"/>
            </a:pPr>
            <a:r>
              <a:t>✓ COMPORTEMENT:</a:t>
            </a:r>
          </a:p>
          <a:p>
            <a:pPr>
              <a:spcBef>
                <a:spcPts val="100"/>
              </a:spcBef>
              <a:defRPr sz="900"/>
            </a:pPr>
            <a:r>
              <a:t>  • 1.0 → 0.05 (rapide)</a:t>
            </a:r>
          </a:p>
          <a:p>
            <a:pPr>
              <a:spcBef>
                <a:spcPts val="100"/>
              </a:spcBef>
              <a:defRPr sz="900"/>
            </a:pPr>
            <a:r>
              <a:t>  • Epochs 0-50: chute</a:t>
            </a:r>
          </a:p>
          <a:p>
            <a:pPr>
              <a:spcBef>
                <a:spcPts val="100"/>
              </a:spcBef>
              <a:defRPr sz="900"/>
            </a:pPr>
            <a:r>
              <a:t>  • Après: plateau ~0.0</a:t>
            </a:r>
          </a:p>
          <a:p>
            <a:pPr>
              <a:spcBef>
                <a:spcPts val="100"/>
              </a:spcBef>
              <a:defRPr sz="900"/>
            </a:pPr>
            <a:r>
              <a:t>  </a:t>
            </a:r>
          </a:p>
          <a:p>
            <a:pPr>
              <a:spcBef>
                <a:spcPts val="100"/>
              </a:spcBef>
              <a:defRPr sz="900"/>
            </a:pPr>
            <a:r>
              <a:t>✓ NORMAL POUR GAN:</a:t>
            </a:r>
          </a:p>
          <a:p>
            <a:pPr>
              <a:spcBef>
                <a:spcPts val="100"/>
              </a:spcBef>
              <a:defRPr sz="900"/>
            </a:pPr>
            <a:r>
              <a:t>  • D converge bien</a:t>
            </a:r>
          </a:p>
          <a:p>
            <a:pPr>
              <a:spcBef>
                <a:spcPts val="100"/>
              </a:spcBef>
              <a:defRPr sz="900"/>
            </a:pPr>
            <a:r>
              <a:t>  • Trop rapide OK si G</a:t>
            </a:r>
          </a:p>
          <a:p>
            <a:pPr>
              <a:spcBef>
                <a:spcPts val="100"/>
              </a:spcBef>
              <a:defRPr sz="900"/>
            </a:pPr>
            <a:r>
              <a:t>    continue d'apprendre</a:t>
            </a:r>
          </a:p>
          <a:p>
            <a:pPr>
              <a:spcBef>
                <a:spcPts val="100"/>
              </a:spcBef>
              <a:defRPr sz="900"/>
            </a:pPr>
          </a:p>
          <a:p>
            <a:pPr>
              <a:spcBef>
                <a:spcPts val="100"/>
              </a:spcBef>
              <a:defRPr sz="900"/>
            </a:pPr>
            <a:r>
              <a:t>✓ LABEL SMOOTHING:</a:t>
            </a:r>
          </a:p>
          <a:p>
            <a:pPr>
              <a:spcBef>
                <a:spcPts val="100"/>
              </a:spcBef>
              <a:defRPr sz="900"/>
            </a:pPr>
            <a:r>
              <a:t>  • Mantient gradients</a:t>
            </a:r>
          </a:p>
          <a:p>
            <a:pPr>
              <a:spcBef>
                <a:spcPts val="100"/>
              </a:spcBef>
              <a:defRPr sz="900"/>
            </a:pPr>
            <a:r>
              <a:t>  • G reste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3AB7"/>
                </a:solidFill>
              </a:defRPr>
            </a:pPr>
            <a:r>
              <a:t>CONCLUSIONS GLOBALES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7863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defRPr sz="1000"/>
            </a:pPr>
            <a:r>
              <a:t>✓ POINTS POSITIFS:</a:t>
            </a:r>
          </a:p>
          <a:p>
            <a:pPr>
              <a:spcBef>
                <a:spcPts val="150"/>
              </a:spcBef>
              <a:defRPr sz="1000"/>
            </a:pPr>
            <a:r>
              <a:t>  • Generator Loss stable (montée normale en GAN)</a:t>
            </a:r>
          </a:p>
          <a:p>
            <a:pPr>
              <a:spcBef>
                <a:spcPts val="150"/>
              </a:spcBef>
              <a:defRPr sz="1000"/>
            </a:pPr>
            <a:r>
              <a:t>  • L1 Loss décroît régulièrement (reconstruction améliore)</a:t>
            </a:r>
          </a:p>
          <a:p>
            <a:pPr>
              <a:spcBef>
                <a:spcPts val="150"/>
              </a:spcBef>
              <a:defRPr sz="1000"/>
            </a:pPr>
            <a:r>
              <a:t>  • Discriminator converge (bon signal au générateur)</a:t>
            </a:r>
          </a:p>
          <a:p>
            <a:pPr>
              <a:spcBef>
                <a:spcPts val="150"/>
              </a:spcBef>
              <a:defRPr sz="1000"/>
            </a:pPr>
            <a:r>
              <a:t>  • Train/Eval proches (pas d'overfitting majeur)</a:t>
            </a:r>
          </a:p>
          <a:p>
            <a:pPr>
              <a:spcBef>
                <a:spcPts val="150"/>
              </a:spcBef>
              <a:defRPr sz="1000"/>
            </a:pPr>
            <a:r>
              <a:t>  • 500 epochs suffisant (courbes stabilisées)</a:t>
            </a:r>
          </a:p>
          <a:p>
            <a:pPr>
              <a:spcBef>
                <a:spcPts val="150"/>
              </a:spcBef>
              <a:defRPr sz="1000"/>
            </a:pPr>
          </a:p>
          <a:p>
            <a:pPr>
              <a:spcBef>
                <a:spcPts val="150"/>
              </a:spcBef>
              <a:defRPr sz="1000"/>
            </a:pPr>
            <a:r>
              <a:t>⚠ POINTS A NOTER:</a:t>
            </a:r>
          </a:p>
          <a:p>
            <a:pPr>
              <a:spcBef>
                <a:spcPts val="150"/>
              </a:spcBef>
              <a:defRPr sz="1000"/>
            </a:pPr>
            <a:r>
              <a:t>  • L1Loss spike epoch 400 (anomalie, enquêter batch difficile)</a:t>
            </a:r>
          </a:p>
          <a:p>
            <a:pPr>
              <a:spcBef>
                <a:spcPts val="150"/>
              </a:spcBef>
              <a:defRPr sz="1000"/>
            </a:pPr>
            <a:r>
              <a:t>  • GenLoss augmente (normal car HingeLoss plateau, L1 décline)</a:t>
            </a:r>
          </a:p>
          <a:p>
            <a:pPr>
              <a:spcBef>
                <a:spcPts val="150"/>
              </a:spcBef>
              <a:defRPr sz="1000"/>
            </a:pPr>
            <a:r>
              <a:t>  • D converge très vite (mais label smoothing maintient gradient)</a:t>
            </a:r>
          </a:p>
          <a:p>
            <a:pPr>
              <a:spcBef>
                <a:spcPts val="150"/>
              </a:spcBef>
              <a:defRPr sz="1000"/>
            </a:pPr>
          </a:p>
          <a:p>
            <a:pPr>
              <a:spcBef>
                <a:spcPts val="150"/>
              </a:spcBef>
              <a:defRPr sz="1000"/>
            </a:pPr>
            <a:r>
              <a:t>🎯 VERDICT:</a:t>
            </a:r>
          </a:p>
          <a:p>
            <a:pPr>
              <a:spcBef>
                <a:spcPts val="150"/>
              </a:spcBef>
              <a:defRPr sz="1000"/>
            </a:pPr>
            <a:r>
              <a:t>  Entraînement STABLE et CONVERGENT. Le modèle apprend les masques avec adversarial learning équilibré.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