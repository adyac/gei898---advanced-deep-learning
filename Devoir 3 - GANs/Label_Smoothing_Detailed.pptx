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Label Smoothing (α = 0.2)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62828"/>
                </a:solidFill>
              </a:defRPr>
            </a:pPr>
            <a:r>
              <a:t>• Point 1: Évite l'Overfitting du Discriminateur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/>
            </a:pPr>
            <a:r>
              <a:t>SANS Label Smoothing (α = 0):</a:t>
            </a:r>
          </a:p>
          <a:p>
            <a:pPr>
              <a:spcBef>
                <a:spcPts val="200"/>
              </a:spcBef>
              <a:defRPr sz="1000"/>
            </a:pPr>
            <a:r>
              <a:t>  • Discriminateur cible: D(real) = 1.0 exactement</a:t>
            </a:r>
          </a:p>
          <a:p>
            <a:pPr>
              <a:spcBef>
                <a:spcPts val="200"/>
              </a:spcBef>
              <a:defRPr sz="1000"/>
            </a:pPr>
            <a:r>
              <a:t>  • D devient extremement confiant (overfit)</a:t>
            </a:r>
          </a:p>
          <a:p>
            <a:pPr>
              <a:spcBef>
                <a:spcPts val="200"/>
              </a:spcBef>
              <a:defRPr sz="1000"/>
            </a:pPr>
            <a:r>
              <a:t>  • Loss = max(0, 1 - D(real)) avec D(real) &gt;&gt; 1</a:t>
            </a:r>
          </a:p>
          <a:p>
            <a:pPr>
              <a:spcBef>
                <a:spcPts val="200"/>
              </a:spcBef>
              <a:defRPr sz="1000"/>
            </a:pPr>
            <a:r>
              <a:t>  • D converge trop vite (plateau d'apprentissage)</a:t>
            </a:r>
          </a:p>
          <a:p>
            <a:pPr>
              <a:spcBef>
                <a:spcPts val="200"/>
              </a:spcBef>
              <a:defRPr sz="1000"/>
            </a:pPr>
          </a:p>
          <a:p>
            <a:pPr>
              <a:spcBef>
                <a:spcPts val="200"/>
              </a:spcBef>
              <a:defRPr sz="1000"/>
            </a:pPr>
            <a:r>
              <a:t>AVEC Label Smoothing (α = 0.2):</a:t>
            </a:r>
          </a:p>
          <a:p>
            <a:pPr>
              <a:spcBef>
                <a:spcPts val="200"/>
              </a:spcBef>
              <a:defRPr sz="1000"/>
            </a:pPr>
            <a:r>
              <a:t>  • Discriminateur cible: D(real) = 0.8 (au lieu de 1.0)</a:t>
            </a:r>
          </a:p>
          <a:p>
            <a:pPr>
              <a:spcBef>
                <a:spcPts val="200"/>
              </a:spcBef>
              <a:defRPr sz="1000"/>
            </a:pPr>
            <a:r>
              <a:t>  • Loss = max(0, 0.8 - D(real))</a:t>
            </a:r>
          </a:p>
          <a:p>
            <a:pPr>
              <a:spcBef>
                <a:spcPts val="200"/>
              </a:spcBef>
              <a:defRPr sz="1000"/>
            </a:pPr>
            <a:r>
              <a:t>  • D continue à apprendre meme avec des valeurs hautes</a:t>
            </a:r>
          </a:p>
          <a:p>
            <a:pPr>
              <a:spcBef>
                <a:spcPts val="200"/>
              </a:spcBef>
              <a:defRPr sz="1000"/>
            </a:pPr>
            <a:r>
              <a:t>  • Reste un defi modere, pas un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8E3C"/>
                </a:solidFill>
              </a:defRPr>
            </a:pPr>
            <a:r>
              <a:t>• Point 2: Maintient un Gradient Stable pour le Générateur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/>
            </a:pPr>
            <a:r>
              <a:t>PROBLEME SANS LABEL SMOOTHING:</a:t>
            </a:r>
          </a:p>
          <a:p>
            <a:pPr>
              <a:spcBef>
                <a:spcPts val="200"/>
              </a:spcBef>
              <a:defRPr sz="1000"/>
            </a:pPr>
            <a:r>
              <a:t>  • D(real) atteint 5.0 ou 10.0 (D devient trop puissant)</a:t>
            </a:r>
          </a:p>
          <a:p>
            <a:pPr>
              <a:spcBef>
                <a:spcPts val="200"/>
              </a:spcBef>
              <a:defRPr sz="1000"/>
            </a:pPr>
            <a:r>
              <a:t>  • Loss Hinge = max(0, 1 - 10) = 0 (aucune penalite!)</a:t>
            </a:r>
          </a:p>
          <a:p>
            <a:pPr>
              <a:spcBef>
                <a:spcPts val="200"/>
              </a:spcBef>
              <a:defRPr sz="1000"/>
            </a:pPr>
            <a:r>
              <a:t>  • Gradient est 0 → D arrete d'apprendre</a:t>
            </a:r>
          </a:p>
          <a:p>
            <a:pPr>
              <a:spcBef>
                <a:spcPts val="200"/>
              </a:spcBef>
              <a:defRPr sz="1000"/>
            </a:pPr>
            <a:r>
              <a:t>  • G reçoit moins de feedback du discriminateur (gradient faible)</a:t>
            </a:r>
          </a:p>
          <a:p>
            <a:pPr>
              <a:spcBef>
                <a:spcPts val="200"/>
              </a:spcBef>
              <a:defRPr sz="1000"/>
            </a:pPr>
            <a:r>
              <a:t>  • G stagne, ne produit plus d'ameliorations</a:t>
            </a:r>
          </a:p>
          <a:p>
            <a:pPr>
              <a:spcBef>
                <a:spcPts val="200"/>
              </a:spcBef>
              <a:defRPr sz="1000"/>
            </a:pPr>
          </a:p>
          <a:p>
            <a:pPr>
              <a:spcBef>
                <a:spcPts val="200"/>
              </a:spcBef>
              <a:defRPr sz="1000"/>
            </a:pPr>
            <a:r>
              <a:t>SOLUTION AVEC LABEL SMOOTHING:</a:t>
            </a:r>
          </a:p>
          <a:p>
            <a:pPr>
              <a:spcBef>
                <a:spcPts val="200"/>
              </a:spcBef>
              <a:defRPr sz="1000"/>
            </a:pPr>
            <a:r>
              <a:t>  • Cible est D(real) = 0.8 (moins extreme)</a:t>
            </a:r>
          </a:p>
          <a:p>
            <a:pPr>
              <a:spcBef>
                <a:spcPts val="200"/>
              </a:spcBef>
              <a:defRPr sz="1000"/>
            </a:pPr>
            <a:r>
              <a:t>  • Meme si D(real) = 2.0, loss = max(0, 0.8 - 2.0) = 0</a:t>
            </a:r>
          </a:p>
          <a:p>
            <a:pPr>
              <a:spcBef>
                <a:spcPts val="200"/>
              </a:spcBef>
              <a:defRPr sz="1000"/>
            </a:pPr>
            <a:r>
              <a:t>  • MAIS gradient reste constant (Hinge loss propriete)</a:t>
            </a:r>
          </a:p>
          <a:p>
            <a:pPr>
              <a:spcBef>
                <a:spcPts val="200"/>
              </a:spcBef>
              <a:defRPr sz="1000"/>
            </a:pPr>
            <a:r>
              <a:t>  • D continue a donner du feedback utile a G</a:t>
            </a:r>
          </a:p>
          <a:p>
            <a:pPr>
              <a:spcBef>
                <a:spcPts val="200"/>
              </a:spcBef>
              <a:defRPr sz="1000"/>
            </a:pPr>
            <a:r>
              <a:t>  • G continue d'apprendre et d'ameliorer les masques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