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7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Pix2Pix GAN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Détection de Défauts de Câbles</a:t>
            </a:r>
          </a:p>
          <a:p>
            <a:r>
              <a:t>Avec Réseaux antagonistes conditionnels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Architecture: U-Net Generator + PatchGAN Discriminator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• GENERATOR (U-Net):</a:t>
            </a:r>
          </a:p>
          <a:p>
            <a:pPr>
              <a:defRPr sz="1600"/>
            </a:pPr>
            <a:r>
              <a:t>  - Encodeur: Downsampling 128 → 64 → 32 → 16 → 8</a:t>
            </a:r>
          </a:p>
          <a:p>
            <a:pPr>
              <a:defRPr sz="1600"/>
            </a:pPr>
            <a:r>
              <a:t>  - Bottleneck: 8×8 feature maps</a:t>
            </a:r>
          </a:p>
          <a:p>
            <a:pPr>
              <a:defRPr sz="1600"/>
            </a:pPr>
            <a:r>
              <a:t>  - Décodeur: Upsampling avec skip connections</a:t>
            </a:r>
          </a:p>
          <a:p>
            <a:pPr>
              <a:defRPr sz="1600"/>
            </a:pPr>
            <a:r>
              <a:t>  - Output: Sigmoid [0,1] pour masques binaires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• DISCRIMINATOR (PatchGAN):</a:t>
            </a:r>
          </a:p>
          <a:p>
            <a:pPr>
              <a:defRPr sz="1600"/>
            </a:pPr>
            <a:r>
              <a:t>  - Classifie 70×70 patches comme réels/faux</a:t>
            </a:r>
          </a:p>
          <a:p>
            <a:pPr>
              <a:defRPr sz="1600"/>
            </a:pPr>
            <a:r>
              <a:t>  - 4 bloc de downsampling avec dropout</a:t>
            </a:r>
          </a:p>
          <a:p>
            <a:pPr>
              <a:defRPr sz="1600"/>
            </a:pPr>
            <a:r>
              <a:t>  - Output: 7×7 heatmap de logits</a:t>
            </a:r>
          </a:p>
          <a:p>
            <a:pPr>
              <a:defRPr sz="1600"/>
            </a:pPr>
            <a:r>
              <a:t>  </a:t>
            </a:r>
          </a:p>
          <a:p>
            <a:pPr>
              <a:defRPr sz="1600"/>
            </a:pPr>
            <a:r>
              <a:t>• LOSS COMBINÉE:</a:t>
            </a:r>
          </a:p>
          <a:p>
            <a:pPr>
              <a:defRPr sz="1600"/>
            </a:pPr>
            <a:r>
              <a:t>  - Hinge Loss (adversarial)</a:t>
            </a:r>
          </a:p>
          <a:p>
            <a:pPr>
              <a:defRPr sz="1600"/>
            </a:pPr>
            <a:r>
              <a:t>  - BCE + L1 (reconstruction)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Loss Functions Utilisées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73152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DISCRIMINATOR LOSS (Hinge Loss):</a:t>
            </a:r>
          </a:p>
          <a:p>
            <a:pPr>
              <a:defRPr sz="1300"/>
            </a:pPr>
            <a:r>
              <a:t>  L_D = max(0, 1 - D(real)) + max(0, 1 + D(fake))</a:t>
            </a:r>
          </a:p>
          <a:p>
            <a:pPr>
              <a:defRPr sz="1300"/>
            </a:pPr>
            <a:r>
              <a:t>  • Pénalise quand D ne discrimine pas assez</a:t>
            </a:r>
          </a:p>
          <a:p>
            <a:pPr>
              <a:defRPr sz="1300"/>
            </a:pPr>
            <a:r>
              <a:t>  • Plus stable que BCE Loss</a:t>
            </a:r>
          </a:p>
          <a:p>
            <a:pPr>
              <a:defRPr sz="1300"/>
            </a:pPr>
          </a:p>
          <a:p>
            <a:pPr>
              <a:defRPr sz="1300"/>
            </a:pPr>
            <a:r>
              <a:t>GENERATOR LOSS:</a:t>
            </a:r>
          </a:p>
          <a:p>
            <a:pPr>
              <a:defRPr sz="1300"/>
            </a:pPr>
            <a:r>
              <a:t>  L_G = max(0, 1 - D(fake)) + λ_L1 × (BCE + 0.5×L1)</a:t>
            </a:r>
          </a:p>
          <a:p>
            <a:pPr>
              <a:defRPr sz="1300"/>
            </a:pPr>
            <a:r>
              <a:t>  </a:t>
            </a:r>
          </a:p>
          <a:p>
            <a:pPr>
              <a:defRPr sz="1300"/>
            </a:pPr>
            <a:r>
              <a:t>  Composants:</a:t>
            </a:r>
          </a:p>
          <a:p>
            <a:pPr>
              <a:defRPr sz="1300"/>
            </a:pPr>
            <a:r>
              <a:t>  • Hinge Loss: Force le générateur à tromper le discriminateur</a:t>
            </a:r>
          </a:p>
          <a:p>
            <a:pPr>
              <a:defRPr sz="1300"/>
            </a:pPr>
            <a:r>
              <a:t>  • BCE Loss: Classification binaire des masques</a:t>
            </a:r>
          </a:p>
          <a:p>
            <a:pPr>
              <a:defRPr sz="1300"/>
            </a:pPr>
            <a:r>
              <a:t>  • L1 Loss: Régularisation spatiale (smoothness)</a:t>
            </a:r>
          </a:p>
          <a:p>
            <a:pPr>
              <a:defRPr sz="1300"/>
            </a:pPr>
            <a:r>
              <a:t>  </a:t>
            </a:r>
          </a:p>
          <a:p>
            <a:pPr>
              <a:defRPr sz="1300"/>
            </a:pPr>
            <a:r>
              <a:t>HYPERPARAMÈTRES:</a:t>
            </a:r>
          </a:p>
          <a:p>
            <a:pPr>
              <a:defRPr sz="1300"/>
            </a:pPr>
            <a:r>
              <a:t>  • λ_L1 = 2.0 (poids de la reconstruction L1)</a:t>
            </a:r>
          </a:p>
          <a:p>
            <a:pPr>
              <a:defRPr sz="1300"/>
            </a:pPr>
            <a:r>
              <a:t>  • label_smooth = 0.2 (smoothing du discriminateur)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Problèmes Rencontrés et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1. MODE COLLAPSE (Outputs Gris)</a:t>
            </a:r>
          </a:p>
          <a:p>
            <a:pPr>
              <a:defRPr sz="1100"/>
            </a:pPr>
            <a:r>
              <a:t>   Problème: Générateur produit toujours des masques gris (0.3-0.4)</a:t>
            </a:r>
          </a:p>
          <a:p>
            <a:pPr>
              <a:defRPr sz="1100"/>
            </a:pPr>
            <a:r>
              <a:t>   Causes: </a:t>
            </a:r>
          </a:p>
          <a:p>
            <a:pPr>
              <a:defRPr sz="1100"/>
            </a:pPr>
            <a:r>
              <a:t>   • L1 Loss force mathématiquement la moyenne pour cibles binaires</a:t>
            </a:r>
          </a:p>
          <a:p>
            <a:pPr>
              <a:defRPr sz="1100"/>
            </a:pPr>
            <a:r>
              <a:t>   • Tanh activation [-1,1] inadapté pour masques [0,1]</a:t>
            </a:r>
          </a:p>
          <a:p>
            <a:pPr>
              <a:defRPr sz="1100"/>
            </a:pPr>
            <a:r>
              <a:t>   Solutions appliquées:</a:t>
            </a:r>
          </a:p>
          <a:p>
            <a:pPr>
              <a:defRPr sz="1100"/>
            </a:pPr>
            <a:r>
              <a:t>   • Sigmoid output [0,1] au lieu de Tanh</a:t>
            </a:r>
          </a:p>
          <a:p>
            <a:pPr>
              <a:defRPr sz="1100"/>
            </a:pPr>
            <a:r>
              <a:t>   • Réduit λ_L1 pour réduire pression L1</a:t>
            </a:r>
          </a:p>
          <a:p>
            <a:pPr>
              <a:defRPr sz="1100"/>
            </a:pPr>
            <a:r>
              <a:t>   • Augmenté learning rate discriminateur (stabilité)</a:t>
            </a:r>
          </a:p>
          <a:p>
            <a:pPr>
              <a:defRPr sz="1100"/>
            </a:pPr>
          </a:p>
          <a:p>
            <a:pPr>
              <a:defRPr sz="1100"/>
            </a:pPr>
            <a:r>
              <a:t>2. DISCRIMINATEUR CONVERGE TROP VITE</a:t>
            </a:r>
          </a:p>
          <a:p>
            <a:pPr>
              <a:defRPr sz="1100"/>
            </a:pPr>
            <a:r>
              <a:t>   Problème: DiscLoss → 0 rapidement, perte de signal gradient</a:t>
            </a:r>
          </a:p>
          <a:p>
            <a:pPr>
              <a:defRPr sz="1100"/>
            </a:pPr>
            <a:r>
              <a:t>   Solutions:</a:t>
            </a:r>
          </a:p>
          <a:p>
            <a:pPr>
              <a:defRPr sz="1100"/>
            </a:pPr>
            <a:r>
              <a:t>   • Hinge Loss au lieu de BCE (gradient plus stable)</a:t>
            </a:r>
          </a:p>
          <a:p>
            <a:pPr>
              <a:defRPr sz="1100"/>
            </a:pPr>
            <a:r>
              <a:t>   • Label smoothing (real_labels = 0.8 au lieu de 1.0)</a:t>
            </a:r>
          </a:p>
          <a:p>
            <a:pPr>
              <a:defRPr sz="1100"/>
            </a:pPr>
            <a:r>
              <a:t>   • Dropout 0.3 sur discriminateur (régularisation)</a:t>
            </a:r>
          </a:p>
          <a:p>
            <a:pPr>
              <a:defRPr sz="1100"/>
            </a:pPr>
          </a:p>
          <a:p>
            <a:pPr>
              <a:defRPr sz="1100"/>
            </a:pPr>
            <a:r>
              <a:t>3. ENTRAÎNEMENT INSTABLE</a:t>
            </a:r>
          </a:p>
          <a:p>
            <a:pPr>
              <a:defRPr sz="1100"/>
            </a:pPr>
            <a:r>
              <a:t>   Problème: GenLoss augmente mais L1Loss diminue légèrement</a:t>
            </a:r>
          </a:p>
          <a:p>
            <a:pPr>
              <a:defRPr sz="1100"/>
            </a:pPr>
            <a:r>
              <a:t>   Solution: Plus d'epochs (200) pour convergence plus lente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Résultats - Courbes de Loss</a:t>
            </a:r>
          </a:p>
        </p:txBody>
      </p:sp>
      <p:pic>
        <p:nvPicPr>
          <p:cNvPr id="4" name="Picture 3" descr="pix2pix_training_los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05840"/>
            <a:ext cx="7680960" cy="1706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Résultats - Exemples Générés vs Ground Truth</a:t>
            </a:r>
          </a:p>
        </p:txBody>
      </p:sp>
      <p:pic>
        <p:nvPicPr>
          <p:cNvPr id="4" name="Picture 3" descr="pix2pix_s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05840"/>
            <a:ext cx="7680960" cy="19202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Robustesse au Bruit - Condition Dependence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73152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TEST: Robustesse au Bruit Gaussien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RÉSULTATS:</a:t>
            </a:r>
          </a:p>
          <a:p>
            <a:pPr>
              <a:defRPr sz="1200"/>
            </a:pPr>
            <a:r>
              <a:t>  • Entrée réelle (image test) → Output structuré</a:t>
            </a:r>
          </a:p>
          <a:p>
            <a:pPr>
              <a:defRPr sz="1200"/>
            </a:pPr>
            <a:r>
              <a:t>  • Bruit aléatoire (Gaussian noise) → Output dégradé (1.5-2x pire L1 error)</a:t>
            </a:r>
          </a:p>
          <a:p>
            <a:pPr>
              <a:defRPr sz="1200"/>
            </a:pPr>
            <a:r>
              <a:t>  • Bruit progressif → Dégradation progressive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CONCLUSION:</a:t>
            </a:r>
          </a:p>
          <a:p>
            <a:pPr>
              <a:defRPr sz="1200"/>
            </a:pPr>
            <a:r>
              <a:t>  ✓ Le modèle apprend bien la dépendance condition → sortie</a:t>
            </a:r>
          </a:p>
          <a:p>
            <a:pPr>
              <a:defRPr sz="1200"/>
            </a:pPr>
            <a:r>
              <a:t>  ✓ N'est pas une simple mémorisation (ne génère pas du bruit aléatoire)</a:t>
            </a:r>
          </a:p>
          <a:p>
            <a:pPr>
              <a:defRPr sz="1200"/>
            </a:pPr>
            <a:r>
              <a:t>  ✓ Utilise les features de l'image d'entrée pour générer les masques</a:t>
            </a:r>
          </a:p>
          <a:p>
            <a:pPr>
              <a:defRPr sz="1200"/>
            </a:pPr>
            <a:r>
              <a:t>  </a:t>
            </a:r>
          </a:p>
          <a:p>
            <a:pPr>
              <a:defRPr sz="1200"/>
            </a:pPr>
            <a:r>
              <a:t>IMPLICATION ACADÉMIQUE:</a:t>
            </a:r>
          </a:p>
          <a:p>
            <a:pPr>
              <a:defRPr sz="1200"/>
            </a:pPr>
            <a:r>
              <a:t>  Le générateur a appris des feature maps significatives liées à la </a:t>
            </a:r>
          </a:p>
          <a:p>
            <a:pPr>
              <a:defRPr sz="1200"/>
            </a:pPr>
            <a:r>
              <a:t>  détection de défauts, plutôt que d'apprendre une sortie fixe.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